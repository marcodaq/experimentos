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05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E1 v4 (multi-step) · linha 54 · llama3:8b · amostra ConvFinQA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54 no E1: a conta certa chega depois da resposta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llama3:8b recebe a linha do CSV, como aplica as etapas do JSON e por que o script registra 9 quando o próprio modelo escreve −9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E1 v4 (multi-step + JSON + ponto flutuante) · llama3:8b via Ollama · AutoGen 0.2.35 · temperatura 0,2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da linha 54 e o gabarito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COLUNAS DO CSV USADAS PELO SCRIPT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11631"/>
              </p:ext>
            </p:extLst>
          </p:nvPr>
        </p:nvGraphicFramePr>
        <p:xfrm>
          <a:off x="548641" y="1600200"/>
          <a:ext cx="5936050" cy="1700784"/>
        </p:xfrm>
        <a:graphic>
          <a:graphicData uri="http://schemas.openxmlformats.org/drawingml/2006/table">
            <a:tbl>
              <a:tblPr/>
              <a:tblGrid>
                <a:gridCol w="2666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Coluna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relatório + tabela HTML + pergunta, num só texto (931 caracteres)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</a:rPr>
                        <a:t>-9.0  (gabarito)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original_row_id, instruction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8A94A6"/>
                          </a:solidFill>
                        </a:rPr>
                        <a:t>não usadas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q"/>
          <p:cNvSpPr/>
          <p:nvPr/>
        </p:nvSpPr>
        <p:spPr>
          <a:xfrm>
            <a:off x="548640" y="3429000"/>
            <a:ext cx="5760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PERGUNTA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947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what is the change in value of intrinsic value from 2016 to 2018?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A TABELA DO TEXTO, LIDA COMO TABELA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00200"/>
          <a:ext cx="4937760" cy="13045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2018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2017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2016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</a:rPr>
                        <a:t>intrinsic value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</a:rPr>
                        <a:t>$9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$10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</a:rPr>
                        <a:t>$18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exercise proceeds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income tax benefit realized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calc"/>
          <p:cNvSpPr/>
          <p:nvPr/>
        </p:nvSpPr>
        <p:spPr>
          <a:xfrm>
            <a:off x="6675120" y="342900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037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100" dirty="0">
                <a:solidFill>
                  <a:srgbClr val="1F8A70"/>
                </a:solidFill>
              </a:rPr>
              <a:t>CONTA ESPERADA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3794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2018 − 2016 = 9 − 18 = </a:t>
            </a:r>
            <a:r>
              <a:rPr lang="en-US" sz="2200" b="1" dirty="0">
                <a:solidFill>
                  <a:srgbClr val="1F8A70"/>
                </a:solidFill>
              </a:rPr>
              <a:t>−9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937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Uma pergunta só, sem histórico de conversa. “Change … from 2016 to 2018” = valor final menos valor inicial, com sinal.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escrito na coluna text</a:t>
            </a:r>
            <a:endParaRPr lang="en-US" sz="3000" dirty="0"/>
          </a:p>
        </p:txBody>
      </p:sp>
      <p:sp>
        <p:nvSpPr>
          <p:cNvPr id="3" name="raw"/>
          <p:cNvSpPr/>
          <p:nvPr/>
        </p:nvSpPr>
        <p:spPr>
          <a:xfrm>
            <a:off x="548640" y="1280160"/>
            <a:ext cx="11064240" cy="2606040"/>
          </a:xfrm>
          <a:prstGeom prst="roundRect">
            <a:avLst>
              <a:gd name="adj" fmla="val 280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0698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following table provides the weighted average assumptions used in the black-scholes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option-pricing model for grants ... for the years ended december 31: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class='wikitable'&gt;&lt;tr&gt;&lt;td&gt;1&lt;/td&gt;&lt;td&gt;-&lt;/td&gt;&lt;td&gt;2018&lt;/td&gt;&lt;td&gt;2017&lt;/td&gt;&lt;td&gt;2016&lt;/td&gt;&lt;/tr&gt;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&lt;tr&gt;&lt;td&gt;2&lt;/td&gt;&lt;td&gt;intrinsic value&lt;/td&gt;&lt;td&gt;$ 9&lt;/td&gt;&lt;td&gt;$ 10&lt;/td&gt;&lt;td&gt;$ 18&lt;/td&gt;&lt;/tr&gt;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&lt;tr&gt;&lt;td&gt;3&lt;/td&gt;&lt;td&gt;exercise proceeds&lt;/td&gt;&lt;td&gt;7&lt;/td&gt;&lt;td&gt;11&lt;/td&gt;&lt;td&gt;15&lt;/td&gt;&lt;/tr&gt;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&lt;tr&gt;&lt;td&gt;4&lt;/td&gt;&lt;td&gt;income tax benefit realized&lt;/td&gt;&lt;td&gt;2&lt;/td&gt;&lt;td&gt;3&lt;/td&gt;&lt;td&gt;6&lt;/td&gt;&lt;/tr&gt;&lt;/table&gt;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 units during 2018 , 2017 and 2016 , the company granted rsus to certain employees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2007 plan and 2017 omnibus plan ... over periods ranging from one to three years. 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what is the change in value of intrinsic value from 2016 to 2018?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860B"/>
                </a:solidFill>
              </a:rPr>
              <a:t>Amarelo</a:t>
            </a:r>
            <a:r>
              <a:rPr lang="en-US" sz="1500" dirty="0">
                <a:solidFill>
                  <a:schemeClr val="tx1"/>
                </a:solidFill>
              </a:rPr>
              <a:t>: a linha da tabela que responde à pergunta.   </a:t>
            </a:r>
            <a:r>
              <a:rPr lang="en-US" sz="1500" b="1" dirty="0">
                <a:solidFill>
                  <a:srgbClr val="1F8A70"/>
                </a:solidFill>
              </a:rPr>
              <a:t>Verde</a:t>
            </a:r>
            <a:r>
              <a:rPr lang="en-US" sz="1500" dirty="0">
                <a:solidFill>
                  <a:schemeClr val="tx1"/>
                </a:solidFill>
              </a:rPr>
              <a:t>: a pergunta, colada no fim do mesmo texto.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O modelo não recebe uma tabela de verdade: recebe o HTML como texto e precisa casar as colunas (2018, 2017, 2016) com os valores ($9, $10, $18) pela posição.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script separa o texto em quatro blocos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split_dialogue</a:t>
            </a:r>
            <a:r>
              <a:rPr lang="en-US" sz="1500" dirty="0">
                <a:solidFill>
                  <a:schemeClr val="tx1"/>
                </a:solidFill>
              </a:rPr>
              <a:t> procura o primeiro “Question:”. O que vem antes é o contexto; a última pergunta é a que deve ser respondida; pares anteriores viram histórico.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build_fields</a:t>
            </a:r>
            <a:r>
              <a:rPr lang="en-US" sz="1500" dirty="0">
                <a:solidFill>
                  <a:schemeClr val="tx1"/>
                </a:solidFill>
              </a:rPr>
              <a:t> monta os blocos.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17068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Bloco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 que recebe na linha 54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Tamanho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QUESTION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what is the change in value of intrinsic value from 2016 to 2018?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65 caracteres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o relatório com a tabela HTML (tudo antes de “Question:”)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854 caracteres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(not provided separately -- any table is included in the TEXT block)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texto fixo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HISTORY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(none)  — é a primeira pergunta da conversa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texto fixo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ame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297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Igual ao E0 v4. </a:t>
            </a:r>
            <a:r>
              <a:rPr lang="en-US" sz="1600" dirty="0">
                <a:solidFill>
                  <a:schemeClr val="tx1"/>
                </a:solidFill>
              </a:rPr>
              <a:t>A montagem da entrada é a mesma nos dois experimentos: o E1 recebe exatamente os mesmos blocos. O que muda é só o texto de instrução que vem antes deles (próximo slide).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LLM recebe: duas mensagens de texto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SYSTEM (IGUAL NO E0)</a:t>
            </a:r>
            <a:endParaRPr lang="en-US" sz="1200" dirty="0"/>
          </a:p>
        </p:txBody>
      </p:sp>
      <p:sp>
        <p:nvSpPr>
          <p:cNvPr id="4" name="sys"/>
          <p:cNvSpPr/>
          <p:nvPr/>
        </p:nvSpPr>
        <p:spPr>
          <a:xfrm>
            <a:off x="548640" y="1554480"/>
            <a:ext cx="393192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financial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specializing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interpreting earnings reports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financial statements. Your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is to answer specific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questions based on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context from financial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reports.</a:t>
            </a:r>
            <a:endParaRPr lang="en-US" sz="1100" dirty="0"/>
          </a:p>
        </p:txBody>
      </p:sp>
      <p:sp>
        <p:nvSpPr>
          <p:cNvPr id="6" name="trans"/>
          <p:cNvSpPr/>
          <p:nvPr/>
        </p:nvSpPr>
        <p:spPr>
          <a:xfrm>
            <a:off x="548640" y="384048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9319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Transporte: </a:t>
            </a:r>
            <a:r>
              <a:rPr lang="en-US" sz="1300" dirty="0">
                <a:solidFill>
                  <a:schemeClr val="tx1"/>
                </a:solidFill>
              </a:rPr>
              <a:t>o AutoGen coloca as duas mensagens num JSON e envia ao Ollama, que converte em tokens. O modelo lê texto, não JSON.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Tamanho: </a:t>
            </a:r>
            <a:r>
              <a:rPr lang="en-US" sz="1300" dirty="0">
                <a:solidFill>
                  <a:schemeClr val="tx1"/>
                </a:solidFill>
              </a:rPr>
              <a:t>452 tokens de entrada.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234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USER (PROMPT E1, MONTADO POR build_e1_prompt)</a:t>
            </a:r>
            <a:endParaRPr lang="en-US" sz="1200" dirty="0"/>
          </a:p>
        </p:txBody>
      </p:sp>
      <p:sp>
        <p:nvSpPr>
          <p:cNvPr id="9" name="user"/>
          <p:cNvSpPr/>
          <p:nvPr/>
        </p:nvSpPr>
        <p:spPr>
          <a:xfrm>
            <a:off x="4754880" y="1554480"/>
            <a:ext cx="6858000" cy="4709160"/>
          </a:xfrm>
          <a:prstGeom prst="roundRect">
            <a:avLst>
              <a:gd name="adj" fmla="val 15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91640"/>
            <a:ext cx="6492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financial question answering assistant.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provided financial context to answer the question.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the financial question in stages: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Identify the relevant values.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Identify what the question is asking.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Determine the required calculation.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Compute the result.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Return the final answer in floating point format.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"evidence": [], "operation": "", "reasoning_summary": "",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null, "unit": ""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 what is the change in value of intrinsic value 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     the following table provides ... &lt;table ...&gt; 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    (not provided separately -- ...)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HISTORY:   (none)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52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8860B"/>
                </a:solidFill>
              </a:rPr>
              <a:t>Amarelo</a:t>
            </a:r>
            <a:r>
              <a:rPr lang="en-US" sz="1200" dirty="0">
                <a:solidFill>
                  <a:schemeClr val="accent4"/>
                </a:solidFill>
              </a:rPr>
              <a:t>: o que o E1 acrescenta no lugar de “Return only the final answer in floating point format.”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LLM devolveu (193 tokens, 7 s)</a:t>
            </a:r>
            <a:endParaRPr lang="en-US" sz="3000" dirty="0"/>
          </a:p>
        </p:txBody>
      </p:sp>
      <p:sp>
        <p:nvSpPr>
          <p:cNvPr id="3" name="resp"/>
          <p:cNvSpPr/>
          <p:nvPr/>
        </p:nvSpPr>
        <p:spPr>
          <a:xfrm>
            <a:off x="548640" y="1280160"/>
            <a:ext cx="7406640" cy="4846320"/>
          </a:xfrm>
          <a:prstGeom prst="roundRect">
            <a:avLst>
              <a:gd name="adj" fmla="val 15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7040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is the answer to the question: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"evidence":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{"value": "$18", "year": "2016"},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{"value": "$10", "year": "2017"},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{"value": "$9",  "year": "2018"}  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"operation": "calculate the difference between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 intrinsic value in 2018 and 2016",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"reasoning_summary": "... subtract the intrinsic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 in 2016 from the intrinsic value in 2018.",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8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9.0,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"unit": "$"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Calculation: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 intrinsic value - 2016 intrinsic value = $9 - $18 = -$9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So, the change ... from 2016 to 2018 is -$9.</a:t>
            </a:r>
            <a:endParaRPr lang="en-US" sz="1200" dirty="0"/>
          </a:p>
        </p:txBody>
      </p:sp>
      <p:sp>
        <p:nvSpPr>
          <p:cNvPr id="5" name="a1"/>
          <p:cNvSpPr/>
          <p:nvPr/>
        </p:nvSpPr>
        <p:spPr>
          <a:xfrm>
            <a:off x="8229600" y="12801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1371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553D"/>
                </a:solidFill>
              </a:rPr>
              <a:t>Dentro do JSON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9.0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sinal perdido</a:t>
            </a:r>
            <a:endParaRPr lang="en-US" sz="1400" dirty="0"/>
          </a:p>
        </p:txBody>
      </p:sp>
      <p:sp>
        <p:nvSpPr>
          <p:cNvPr id="7" name="a2"/>
          <p:cNvSpPr/>
          <p:nvPr/>
        </p:nvSpPr>
        <p:spPr>
          <a:xfrm>
            <a:off x="8229600" y="28803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9718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8A70"/>
                </a:solidFill>
              </a:rPr>
              <a:t>Depois do JSON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$9 − $18 = −$9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conta certa</a:t>
            </a:r>
            <a:endParaRPr lang="en-US" sz="1400" dirty="0"/>
          </a:p>
        </p:txBody>
      </p:sp>
      <p:sp>
        <p:nvSpPr>
          <p:cNvPr id="9" name="a3"/>
          <p:cNvSpPr/>
          <p:nvPr/>
        </p:nvSpPr>
        <p:spPr>
          <a:xfrm>
            <a:off x="8229600" y="4480560"/>
            <a:ext cx="33832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mesma resposta contém os dois números. O script lê só o que está dentro do JSON.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modelo aplicou cada etapa pedida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57251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Etapa pedida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Onde aparece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 que o modelo escreveu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1. Identify the relevant values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evidence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2016 = $18 · 2017 = $10 · 2018 = $9 (a linha certa)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2. Identify what the question is asking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reasoning_summary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“change in value of intrinsic value from 2016 to 2018”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3. Determine the required calculation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“subtract 2016 from 2018” → 2018 − 2016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4. Compute the result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não aparece no JSON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8553D"/>
                          </a:solidFill>
                        </a:rPr>
                        <a:t>nenhuma conta dentro do JSON: a etapa foi pulada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8553D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5. Return the final answer (float)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answer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9.0  (deveria ser −9.0)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8553D"/>
                          </a:solidFill>
                        </a:rPr>
                        <a:t>✗</a:t>
                      </a:r>
                      <a:endParaRPr lang="en-US" sz="16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rgbClr val="16202E"/>
                          </a:solidFill>
                        </a:rPr>
                        <a:t>(nenhuma etapa)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texto depois do JSON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$9 − $18 = −$9  → certo, mas tarde demais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"/>
          <p:cNvSpPr/>
          <p:nvPr/>
        </p:nvSpPr>
        <p:spPr>
          <a:xfrm>
            <a:off x="548640" y="4206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297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Leitura: </a:t>
            </a:r>
            <a:r>
              <a:rPr lang="en-US" sz="1600" dirty="0">
                <a:solidFill>
                  <a:schemeClr val="tx1"/>
                </a:solidFill>
              </a:rPr>
              <a:t>as etapas 1 a 3 estão certas. O modelo achou os valores, entendeu a pergunta e definiu a operação. Mas pulou a etapa 4 e escreveu o resultado sem calcular.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answer saiu 9: o modelo escreve em ordem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 LLM gera um token de cada vez, da esquerda para a direita. Cada parte só pode usar o que já foi escrito antes dela.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rgbClr val="1F8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A94A6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83464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$18 · $10 · $9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5400000">
            <a:off x="2267712" y="2743200"/>
            <a:ext cx="128016" cy="182880"/>
          </a:xfrm>
          <a:prstGeom prst="rtTriangl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214884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rgbClr val="1F8A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32888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A94A6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96312" y="283464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2018 − 2016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42232" y="2743200"/>
            <a:ext cx="128016" cy="182880"/>
          </a:xfrm>
          <a:prstGeom prst="rtTriangl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14884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rgbClr val="1F8A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A94A6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70832" y="283464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subtrair 2016 de 2018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16752" y="2743200"/>
            <a:ext cx="128016" cy="182880"/>
          </a:xfrm>
          <a:prstGeom prst="rtTriangl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1488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BEDE9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81928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A94A6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283464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9.0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891272" y="2743200"/>
            <a:ext cx="128016" cy="182880"/>
          </a:xfrm>
          <a:prstGeom prst="rtTriangl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214884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rgbClr val="8A94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56448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A94A6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19872" y="283464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JSON fechado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765792" y="2743200"/>
            <a:ext cx="128016" cy="182880"/>
          </a:xfrm>
          <a:prstGeom prst="rtTriangl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21240" y="21488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3F2EC"/>
          </a:solidFill>
          <a:ln w="19050">
            <a:solidFill>
              <a:srgbClr val="1F8A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30968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A94A6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2423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994392" y="283464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$9 − $18 = −$9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55280" y="1965960"/>
            <a:ext cx="0" cy="1737360"/>
          </a:xfrm>
          <a:prstGeom prst="line">
            <a:avLst/>
          </a:prstGeom>
          <a:noFill/>
          <a:ln w="19050">
            <a:solidFill>
              <a:srgbClr val="C8553D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58368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8553D"/>
                </a:solidFill>
              </a:rPr>
              <a:t>o script para de ler aqui</a:t>
            </a:r>
            <a:endParaRPr lang="en-US" sz="1200" dirty="0"/>
          </a:p>
        </p:txBody>
      </p:sp>
      <p:sp>
        <p:nvSpPr>
          <p:cNvPr id="35" name="l"/>
          <p:cNvSpPr/>
          <p:nvPr/>
        </p:nvSpPr>
        <p:spPr>
          <a:xfrm>
            <a:off x="548640" y="4206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BEDE9"/>
          </a:solidFill>
          <a:ln w="12700">
            <a:solidFill>
              <a:srgbClr val="FBEDE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3159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553D"/>
                </a:solidFill>
              </a:rPr>
              <a:t>No momento do passo 4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subtração ainda não foi escrita em lugar nenhum. O modelo coloca um número “de cabeça”: a distância entre 18 e 9, sem sinal.</a:t>
            </a:r>
            <a:endParaRPr lang="en-US" sz="1600" dirty="0"/>
          </a:p>
        </p:txBody>
      </p:sp>
      <p:sp>
        <p:nvSpPr>
          <p:cNvPr id="37" name="r"/>
          <p:cNvSpPr/>
          <p:nvPr/>
        </p:nvSpPr>
        <p:spPr>
          <a:xfrm>
            <a:off x="6217920" y="4206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43159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8A70"/>
                </a:solidFill>
              </a:rPr>
              <a:t>No passo 6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 modelo finalmente escreve a conta, termo a termo, e chega a −9. Mas o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r>
              <a:rPr lang="en-US" sz="1600" dirty="0">
                <a:solidFill>
                  <a:schemeClr val="tx1"/>
                </a:solidFill>
              </a:rPr>
              <a:t> já foi escrito e não volta atrás.</a:t>
            </a:r>
            <a:endParaRPr lang="en-US" sz="16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6E46F8B7-44C4-C8D8-458B-15DDA441F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03" y="5779292"/>
            <a:ext cx="9031657" cy="968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pergunta no E0 v4: conta antes do número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100" dirty="0">
                <a:solidFill>
                  <a:srgbClr val="1F8A70"/>
                </a:solidFill>
              </a:rPr>
              <a:t>E0 v4 · “RETURN ONLY THE FINAL ANSWER IN FLOATING POINT FORMAT”</a:t>
            </a:r>
            <a:endParaRPr lang="en-US" sz="1200" dirty="0"/>
          </a:p>
        </p:txBody>
      </p:sp>
      <p:sp>
        <p:nvSpPr>
          <p:cNvPr id="4" name="e0"/>
          <p:cNvSpPr/>
          <p:nvPr/>
        </p:nvSpPr>
        <p:spPr>
          <a:xfrm>
            <a:off x="548640" y="1600200"/>
            <a:ext cx="53949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change in value of intrinsic value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2016 to 2018 is $9 - $18 = -$9.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5394960" cy="1365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extração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−9.0 (último número)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gabarito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−9.0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acerto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 exato, ✓ EM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100" dirty="0">
                <a:solidFill>
                  <a:srgbClr val="C8553D"/>
                </a:solidFill>
              </a:rPr>
              <a:t>E1 v4 · ETAPAS + JSON</a:t>
            </a:r>
            <a:endParaRPr lang="en-US" sz="1200" dirty="0"/>
          </a:p>
        </p:txBody>
      </p:sp>
      <p:sp>
        <p:nvSpPr>
          <p:cNvPr id="8" name="e1"/>
          <p:cNvSpPr/>
          <p:nvPr/>
        </p:nvSpPr>
        <p:spPr>
          <a:xfrm>
            <a:off x="6217920" y="1600200"/>
            <a:ext cx="53949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737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"evidence": [...], "operation": "...",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8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9.0, ...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FD1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Calculation: $9 - $18 = -$9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063240"/>
          <a:ext cx="5394960" cy="1365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extração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9.0 (campo answer)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gabarito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−9.0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acerto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✗ exato, ✗ EM, ✗ escala %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48463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 diferença não é de conhecimento: </a:t>
            </a:r>
            <a:r>
              <a:rPr lang="en-US" sz="1500" dirty="0">
                <a:solidFill>
                  <a:schemeClr val="tx1"/>
                </a:solidFill>
              </a:rPr>
              <a:t>os dois experimentos fazem a mesma conta. No E0 a conta vem antes do número final, na mesma frase. No E1 o molde JSON pede o número antes da conta.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script faz com a resposta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4137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Função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 na linha 54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1. Pega o texto do AutoGen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_extract_content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o texto completo do slide 6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2. Acha o JSON no meio do texto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_parse_json_response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o bloco { ... } (JSON válido)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3. Lê o campo answer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extract_multistep_answer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9.0 → modo json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4. Texto depois do JSON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8553D"/>
                          </a:solidFill>
                        </a:rPr>
                        <a:t>ignorado: o −$9 não é lido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5. Resposta é só o JSON?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is_pure_json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False (há texto antes e depois)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6. answer já é float?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is_float_answer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True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8A70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7. Compara exato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answers_match_exact(9.0, -9.0)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False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8. Compara com 1%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_answers_match(9.0, -9.0)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|9 − (−9)| = 18 &gt; 0,09 → False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9. Escala percentual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answers_match_pct_scale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não é pergunta de % → False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A leitura do JSON funcionou como projetado. O erro está no número que o modelo pôs no campo answer, não na extração.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 caso isolado: o padrão nas 100 respostas do E1 v4</a:t>
            </a:r>
            <a:endParaRPr lang="en-US" sz="3000" dirty="0"/>
          </a:p>
        </p:txBody>
      </p:sp>
      <p:sp>
        <p:nvSpPr>
          <p:cNvPr id="3" name="st0"/>
          <p:cNvSpPr/>
          <p:nvPr/>
        </p:nvSpPr>
        <p:spPr>
          <a:xfrm>
            <a:off x="548640" y="132588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2F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417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começam com “Here is the answer…” e trazem o JSON logo no início</a:t>
            </a:r>
            <a:endParaRPr lang="en-US" sz="1400" dirty="0"/>
          </a:p>
        </p:txBody>
      </p:sp>
      <p:sp>
        <p:nvSpPr>
          <p:cNvPr id="6" name="st1"/>
          <p:cNvSpPr/>
          <p:nvPr/>
        </p:nvSpPr>
        <p:spPr>
          <a:xfrm>
            <a:off x="6172200" y="132588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173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2F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1417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têm evidence, operation e reasoning_summary todos vazios</a:t>
            </a:r>
            <a:endParaRPr lang="en-US" sz="1400" dirty="0"/>
          </a:p>
        </p:txBody>
      </p:sp>
      <p:sp>
        <p:nvSpPr>
          <p:cNvPr id="9" name="st2"/>
          <p:cNvSpPr/>
          <p:nvPr/>
        </p:nvSpPr>
        <p:spPr>
          <a:xfrm>
            <a:off x="548640" y="274320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34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de 53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8346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respostas erradas têm explicação em texto depois do JSON</a:t>
            </a:r>
            <a:endParaRPr lang="en-US" sz="1400" dirty="0"/>
          </a:p>
        </p:txBody>
      </p:sp>
      <p:sp>
        <p:nvSpPr>
          <p:cNvPr id="12" name="st3"/>
          <p:cNvSpPr/>
          <p:nvPr/>
        </p:nvSpPr>
        <p:spPr>
          <a:xfrm>
            <a:off x="6172200" y="274320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834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de 53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8346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respostas erradas citam o valor do gabarito nesse texto final</a:t>
            </a:r>
            <a:endParaRPr lang="en-US" sz="1400" dirty="0"/>
          </a:p>
        </p:txBody>
      </p:sp>
      <p:sp>
        <p:nvSpPr>
          <p:cNvPr id="15" name="concl"/>
          <p:cNvSpPr/>
          <p:nvPr/>
        </p:nvSpPr>
        <p:spPr>
          <a:xfrm>
            <a:off x="548640" y="42519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3F2EC"/>
          </a:solidFill>
          <a:ln w="12700">
            <a:solidFill>
              <a:srgbClr val="E3F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43400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8A70"/>
                </a:solidFill>
              </a:rPr>
              <a:t>Conclusão para a ablação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 E1, o llama3:8b escreve o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r>
              <a:rPr lang="en-US" sz="1500" dirty="0">
                <a:solidFill>
                  <a:schemeClr val="tx1"/>
                </a:solidFill>
              </a:rPr>
              <a:t> antes de fazer a conta. Os campos de raciocínio ficam vazios ou não incluem o cálculo, que só aparece em texto depois do JSON. A decomposição pedida não chega a orientar a resposta. Por isso o E1 v4 (EM 47%) não supera o E0 v4 (EM 48%), em que o modelo escreve a conta antes do número.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8A94A6"/>
                </a:solidFill>
              </a:rPr>
              <a:t>Os 17 casos são contagem automática: parte pode ser coincidência de um número citado. As linhas 21, 54 e 63 foram conferidas à mão.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E6C7175-F661-BCAD-1234-0FE12D4A7CB4}"/>
              </a:ext>
            </a:extLst>
          </p:cNvPr>
          <p:cNvSpPr txBox="1"/>
          <p:nvPr/>
        </p:nvSpPr>
        <p:spPr>
          <a:xfrm>
            <a:off x="639661" y="381023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Leia atentamente os textos a seguir e a tabela com dados financeiros extraídos de um relatório de resultados de uma empresa do S&amp;P 500. Com base no histórico de perguntas e respostas (caso fornecido), responda à última pergunta. A resposta pode exigir cálculos matemáticos fundamentados nos dados apresentados. Organize sua resposta utilizando cabeçalhos para a resposta propriamente dita e para a justificativa.</a:t>
            </a:r>
          </a:p>
        </p:txBody>
      </p:sp>
    </p:spTree>
    <p:extLst>
      <p:ext uri="{BB962C8B-B14F-4D97-AF65-F5344CB8AC3E}">
        <p14:creationId xmlns:p14="http://schemas.microsoft.com/office/powerpoint/2010/main" val="8776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A3EF406-A78B-B141-3096-ECAA045A3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3024187"/>
            <a:ext cx="78962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73893"/>
      </p:ext>
    </p:extLst>
  </p:cSld>
  <p:clrMapOvr>
    <a:masterClrMapping/>
  </p:clrMapOvr>
</p:sld>
</file>

<file path=ppt/theme/theme1.xml><?xml version="1.0" encoding="utf-8"?>
<a:theme xmlns:a="http://schemas.openxmlformats.org/drawingml/2006/main" name="E1 linha 54">
  <a:themeElements>
    <a:clrScheme name="E1 linha 54">
      <a:dk1>
        <a:srgbClr val="16202E"/>
      </a:dk1>
      <a:lt1>
        <a:srgbClr val="FFFFFF"/>
      </a:lt1>
      <a:dk2>
        <a:srgbClr val="3B4A60"/>
      </a:dk2>
      <a:lt2>
        <a:srgbClr val="EEF1F5"/>
      </a:lt2>
      <a:accent1>
        <a:srgbClr val="1F8A70"/>
      </a:accent1>
      <a:accent2>
        <a:srgbClr val="C8553D"/>
      </a:accent2>
      <a:accent3>
        <a:srgbClr val="7A8699"/>
      </a:accent3>
      <a:accent4>
        <a:srgbClr val="2F5D8A"/>
      </a:accent4>
      <a:accent5>
        <a:srgbClr val="8A94A6"/>
      </a:accent5>
      <a:accent6>
        <a:srgbClr val="E3F2EC"/>
      </a:accent6>
      <a:hlink>
        <a:srgbClr val="2F5D8A"/>
      </a:hlink>
      <a:folHlink>
        <a:srgbClr val="6C4E9B"/>
      </a:folHlink>
    </a:clrScheme>
    <a:fontScheme name="E1 linha 5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2056</Words>
  <Application>Microsoft Office PowerPoint</Application>
  <PresentationFormat>Widescreen</PresentationFormat>
  <Paragraphs>270</Paragraphs>
  <Slides>13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E1 linha 54</vt:lpstr>
      <vt:lpstr>Linha 54 no E1: a conta certa chega depois da resposta</vt:lpstr>
      <vt:lpstr>A pergunta da linha 54 e o gabarito</vt:lpstr>
      <vt:lpstr>O que está escrito na coluna text</vt:lpstr>
      <vt:lpstr>O script separa o texto em quatro blocos</vt:lpstr>
      <vt:lpstr>O que o LLM recebe: duas mensagens de texto</vt:lpstr>
      <vt:lpstr>O que o LLM devolveu (193 tokens, 7 s)</vt:lpstr>
      <vt:lpstr>Como o modelo aplicou cada etapa pedida</vt:lpstr>
      <vt:lpstr>Por que o answer saiu 9: o modelo escreve em ordem</vt:lpstr>
      <vt:lpstr>A mesma pergunta no E0 v4: conta antes do número</vt:lpstr>
      <vt:lpstr>O que o script faz com a resposta</vt:lpstr>
      <vt:lpstr>Não é um caso isolado: o padrão nas 100 respostas do E1 v4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E1 v4 — linha 54: da linha do CSV à resposta</dc:title>
  <dc:subject>PptxGenJS Presentation</dc:subject>
  <dc:creator>Experimento E1</dc:creator>
  <cp:lastModifiedBy>Marco Dall Aqua</cp:lastModifiedBy>
  <cp:revision>2</cp:revision>
  <dcterms:created xsi:type="dcterms:W3CDTF">2026-10-23T03:06:11Z</dcterms:created>
  <dcterms:modified xsi:type="dcterms:W3CDTF">2026-10-23T22:10:09Z</dcterms:modified>
</cp:coreProperties>
</file>