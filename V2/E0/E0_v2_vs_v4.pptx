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rgbClr val="7A869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 exato</c:v>
                  </c:pt>
                  <c:pt idx="1">
                    <c:v>EM (tol. 1%)</c:v>
                  </c:pt>
                  <c:pt idx="2">
                    <c:v>EM escala 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38</c:v>
                </c:pt>
                <c:pt idx="2">
                  <c:v>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v4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 exato</c:v>
                  </c:pt>
                  <c:pt idx="1">
                    <c:v>EM (tol. 1%)</c:v>
                  </c:pt>
                  <c:pt idx="2">
                    <c:v>EM escala %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43</c:v>
                </c:pt>
                <c:pt idx="1">
                  <c:v>48</c:v>
                </c:pt>
                <c:pt idx="2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6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B4A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6202E"/>
                </a:solidFill>
                <a:latin typeface="+mn-lt"/>
              </a:rPr>
              <a:t>Respostas por regra de extração (de 100)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rgbClr val="7A86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Regra 2 (só o número)</c:v>
                  </c:pt>
                  <c:pt idx="1">
                    <c:v>Regra 3 (após Answer)</c:v>
                  </c:pt>
                  <c:pt idx="2">
                    <c:v>Regra 4 (último %)</c:v>
                  </c:pt>
                  <c:pt idx="3">
                    <c:v>Regra 5 (último não-ano)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3</c:v>
                </c:pt>
                <c:pt idx="2">
                  <c:v>15</c:v>
                </c:pt>
                <c:pt idx="3">
                  <c:v>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v4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Regra 2 (só o número)</c:v>
                  </c:pt>
                  <c:pt idx="1">
                    <c:v>Regra 3 (após Answer)</c:v>
                  </c:pt>
                  <c:pt idx="2">
                    <c:v>Regra 4 (último %)</c:v>
                  </c:pt>
                  <c:pt idx="3">
                    <c:v>Regra 5 (último não-ano)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16</c:v>
                </c:pt>
                <c:pt idx="2">
                  <c:v>22</c:v>
                </c:pt>
                <c:pt idx="3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B4A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6202E"/>
                </a:solidFill>
                <a:latin typeface="+mn-lt"/>
              </a:rPr>
              <a:t>EM com tolerância de 1% (100 perguntas)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Perguntas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FD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Acertam nas duas</c:v>
                  </c:pt>
                  <c:pt idx="1">
                    <c:v>Só o v4 acerta</c:v>
                  </c:pt>
                  <c:pt idx="2">
                    <c:v>Só o v2 acerta</c:v>
                  </c:pt>
                  <c:pt idx="3">
                    <c:v>Erram nas duas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18</c:v>
                </c:pt>
                <c:pt idx="2">
                  <c:v>8</c:v>
                </c:pt>
                <c:pt idx="3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6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B4A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E0 · script v2 × script v4 · llama3:8b · 100 perguntas ConvFinQA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E0: script v2 × script v4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 no prompt, no tratamento da resposta e nos critérios de acerto, e por que o v4 acerta mais com o mesmo modelo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llama3:8b via Ollama · AutoGen 0.2.35 · temperatura 0,2 · amostra de 100 perguntas do ConvFinQA · 1 chamada ao LLM por pergunta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Resumo: mesma pergunta, mesmo modelo, +10 pontos de acerto</a:t>
            </a:r>
            <a:endParaRPr lang="en-US" sz="3000" dirty="0"/>
          </a:p>
        </p:txBody>
      </p:sp>
      <p:sp>
        <p:nvSpPr>
          <p:cNvPr id="3" name="tile_0"/>
          <p:cNvSpPr/>
          <p:nvPr/>
        </p:nvSpPr>
        <p:spPr>
          <a:xfrm>
            <a:off x="548640" y="13258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 → 48%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EM com tolerância de 1%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420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critério oficial, comparável com E1–E7</a:t>
            </a:r>
            <a:endParaRPr lang="en-US" sz="1200" dirty="0"/>
          </a:p>
        </p:txBody>
      </p:sp>
      <p:sp>
        <p:nvSpPr>
          <p:cNvPr id="7" name="tile_1"/>
          <p:cNvSpPr/>
          <p:nvPr/>
        </p:nvSpPr>
        <p:spPr>
          <a:xfrm>
            <a:off x="4297680" y="13258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417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 → 58%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EM com escala percentual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5420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aceita 2,9 para o gabarito 0,029</a:t>
            </a:r>
            <a:endParaRPr lang="en-US" sz="1200" dirty="0"/>
          </a:p>
        </p:txBody>
      </p:sp>
      <p:sp>
        <p:nvSpPr>
          <p:cNvPr id="11" name="tile_2"/>
          <p:cNvSpPr/>
          <p:nvPr/>
        </p:nvSpPr>
        <p:spPr>
          <a:xfrm>
            <a:off x="8046720" y="13258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17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 → 43%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EM exato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5420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número extraído = gabarito, sem tolerância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3200400"/>
          <a:ext cx="60350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9494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O QUE MUDOU DE FATO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35661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Uma linha do prompt: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“Return only the final answer.” → “… in floating point format.”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Efeito: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modelo passou a mostrar a conta e a terminar a resposta com o resultado. A regra de extração, que lê o último número, passou a pegar o número certo.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Custo: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saída 29 → 66 tokens; latência 3,8 → 4,9 s por pergunta.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igual nos dois scripts (variáveis controladas)</a:t>
            </a:r>
            <a:endParaRPr lang="en-US" sz="3000" dirty="0"/>
          </a:p>
        </p:txBody>
      </p:sp>
      <p:sp>
        <p:nvSpPr>
          <p:cNvPr id="3" name="igual_0"/>
          <p:cNvSpPr/>
          <p:nvPr/>
        </p:nvSpPr>
        <p:spPr>
          <a:xfrm>
            <a:off x="548640" y="1371600"/>
            <a:ext cx="5349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636776"/>
            <a:ext cx="329184" cy="32918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=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81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Modelo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llama3:8b local, via Ollama</a:t>
            </a:r>
            <a:endParaRPr lang="en-US" sz="1300" dirty="0"/>
          </a:p>
        </p:txBody>
      </p:sp>
      <p:sp>
        <p:nvSpPr>
          <p:cNvPr id="8" name="igual_1"/>
          <p:cNvSpPr/>
          <p:nvPr/>
        </p:nvSpPr>
        <p:spPr>
          <a:xfrm>
            <a:off x="6126480" y="1371600"/>
            <a:ext cx="5349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636776"/>
            <a:ext cx="329184" cy="32918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7648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=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481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Temperatura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0,2</a:t>
            </a:r>
            <a:endParaRPr lang="en-US" sz="1300" dirty="0"/>
          </a:p>
        </p:txBody>
      </p:sp>
      <p:sp>
        <p:nvSpPr>
          <p:cNvPr id="13" name="igual_2"/>
          <p:cNvSpPr/>
          <p:nvPr/>
        </p:nvSpPr>
        <p:spPr>
          <a:xfrm>
            <a:off x="548640" y="2395728"/>
            <a:ext cx="5349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2660904"/>
            <a:ext cx="329184" cy="32918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=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054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Orquestração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834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AutoGen 0.2.35, 1 agente, 1 chamada por pergunta</a:t>
            </a:r>
            <a:endParaRPr lang="en-US" sz="1300" dirty="0"/>
          </a:p>
        </p:txBody>
      </p:sp>
      <p:sp>
        <p:nvSpPr>
          <p:cNvPr id="18" name="igual_3"/>
          <p:cNvSpPr/>
          <p:nvPr/>
        </p:nvSpPr>
        <p:spPr>
          <a:xfrm>
            <a:off x="6126480" y="2395728"/>
            <a:ext cx="5349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7648" y="2660904"/>
            <a:ext cx="329184" cy="32918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27648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=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5054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Amostra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834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as mesmas 100 perguntas do ConvFinQA</a:t>
            </a:r>
            <a:endParaRPr lang="en-US" sz="1300" dirty="0"/>
          </a:p>
        </p:txBody>
      </p:sp>
      <p:sp>
        <p:nvSpPr>
          <p:cNvPr id="23" name="igual_4"/>
          <p:cNvSpPr/>
          <p:nvPr/>
        </p:nvSpPr>
        <p:spPr>
          <a:xfrm>
            <a:off x="548640" y="3419856"/>
            <a:ext cx="5349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3685032"/>
            <a:ext cx="329184" cy="32918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=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5295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Entrada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3858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build_fields: QUESTION, TEXT, TABLE, HISTORY</a:t>
            </a:r>
            <a:endParaRPr lang="en-US" sz="1300" dirty="0"/>
          </a:p>
        </p:txBody>
      </p:sp>
      <p:sp>
        <p:nvSpPr>
          <p:cNvPr id="28" name="igual_5"/>
          <p:cNvSpPr/>
          <p:nvPr/>
        </p:nvSpPr>
        <p:spPr>
          <a:xfrm>
            <a:off x="6126480" y="3419856"/>
            <a:ext cx="5349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27648" y="3685032"/>
            <a:ext cx="329184" cy="32918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27648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=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5295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System prompt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3858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mesma persona de analista financeiro</a:t>
            </a:r>
            <a:endParaRPr lang="en-US" sz="1300" dirty="0"/>
          </a:p>
        </p:txBody>
      </p:sp>
      <p:sp>
        <p:nvSpPr>
          <p:cNvPr id="33" name="igual_6"/>
          <p:cNvSpPr/>
          <p:nvPr/>
        </p:nvSpPr>
        <p:spPr>
          <a:xfrm>
            <a:off x="548640" y="4443984"/>
            <a:ext cx="5349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" y="4709160"/>
            <a:ext cx="329184" cy="32918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=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280160" y="45537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Extração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48828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extract_direct_answer, as mesmas 6 regras</a:t>
            </a:r>
            <a:endParaRPr lang="en-US" sz="1300" dirty="0"/>
          </a:p>
        </p:txBody>
      </p:sp>
      <p:sp>
        <p:nvSpPr>
          <p:cNvPr id="38" name="igual_7"/>
          <p:cNvSpPr/>
          <p:nvPr/>
        </p:nvSpPr>
        <p:spPr>
          <a:xfrm>
            <a:off x="6126480" y="4443984"/>
            <a:ext cx="5349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27648" y="4709160"/>
            <a:ext cx="329184" cy="329184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27648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=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45537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Critério oficial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0" y="48828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_answers_match, tolerância de 1%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Como todo o resto é igual, a diferença de resultado só pode vir do prompt e do que o modelo passou a escrever por causa dele.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Diferença 1: o prompt (uma única linha mudou)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7A8699"/>
          </a:solidFill>
          <a:ln w="12700">
            <a:solidFill>
              <a:srgbClr val="7A86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v2 · resultado inferior</a:t>
            </a:r>
            <a:endParaRPr lang="en-US" sz="1200" dirty="0"/>
          </a:p>
        </p:txBody>
      </p:sp>
      <p:sp>
        <p:nvSpPr>
          <p:cNvPr id="5" name="prompt_v2"/>
          <p:cNvSpPr/>
          <p:nvPr/>
        </p:nvSpPr>
        <p:spPr>
          <a:xfrm>
            <a:off x="548640" y="1783080"/>
            <a:ext cx="5394960" cy="3566160"/>
          </a:xfrm>
          <a:prstGeom prst="roundRect">
            <a:avLst>
              <a:gd name="adj" fmla="val 205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financial question answering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the provided financial context 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the question.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only the final answer.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{question}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TEXT:     {text}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   {table}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HISTORY:  {history}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3258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v4 · resultado superior</a:t>
            </a:r>
            <a:endParaRPr lang="en-US" sz="1200" dirty="0"/>
          </a:p>
        </p:txBody>
      </p:sp>
      <p:sp>
        <p:nvSpPr>
          <p:cNvPr id="9" name="prompt_v4"/>
          <p:cNvSpPr/>
          <p:nvPr/>
        </p:nvSpPr>
        <p:spPr>
          <a:xfrm>
            <a:off x="6217920" y="1783080"/>
            <a:ext cx="5394960" cy="3566160"/>
          </a:xfrm>
          <a:prstGeom prst="roundRect">
            <a:avLst>
              <a:gd name="adj" fmla="val 205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9202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financial question answering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the provided financial context 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the question.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FE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only the final answer in floating point format.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{question}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TEXT:     {text}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   {table}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HISTORY:  {history}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intenção era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obter só o número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. O modelo não obedeceu ao formato (1% das respostas foi só um número), mas mudou a forma de responder: passou a explicar a conta e a fechar com o resultado.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de cada pergunta nos dois scripts</a:t>
            </a:r>
            <a:endParaRPr lang="en-US" sz="3000" dirty="0"/>
          </a:p>
        </p:txBody>
      </p:sp>
      <p:sp>
        <p:nvSpPr>
          <p:cNvPr id="3" name="passo_0"/>
          <p:cNvSpPr/>
          <p:nvPr/>
        </p:nvSpPr>
        <p:spPr>
          <a:xfrm>
            <a:off x="548640" y="1417320"/>
            <a:ext cx="1737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384048" cy="384048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Monta o prompt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build_e0_prompt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95144" y="2057400"/>
            <a:ext cx="146304" cy="228600"/>
          </a:xfrm>
          <a:prstGeom prst="rightArrow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" name="passo_1"/>
          <p:cNvSpPr/>
          <p:nvPr/>
        </p:nvSpPr>
        <p:spPr>
          <a:xfrm>
            <a:off x="2450592" y="1417320"/>
            <a:ext cx="1737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1554480"/>
            <a:ext cx="384048" cy="384048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8775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Chama o LLM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87752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generate_reply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97096" y="2057400"/>
            <a:ext cx="146304" cy="228600"/>
          </a:xfrm>
          <a:prstGeom prst="rightArrow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" name="passo_2"/>
          <p:cNvSpPr/>
          <p:nvPr/>
        </p:nvSpPr>
        <p:spPr>
          <a:xfrm>
            <a:off x="4352544" y="1417320"/>
            <a:ext cx="1737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9704" y="1554480"/>
            <a:ext cx="384048" cy="384048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9704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89704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Pega o texto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9704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_extract_content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99048" y="2057400"/>
            <a:ext cx="146304" cy="228600"/>
          </a:xfrm>
          <a:prstGeom prst="rightArrow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" name="passo_3"/>
          <p:cNvSpPr/>
          <p:nvPr/>
        </p:nvSpPr>
        <p:spPr>
          <a:xfrm>
            <a:off x="6254496" y="1417320"/>
            <a:ext cx="1737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91656" y="1554480"/>
            <a:ext cx="384048" cy="384048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91656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91656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Extrai o número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91656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extract_direct_answer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01000" y="2057400"/>
            <a:ext cx="146304" cy="228600"/>
          </a:xfrm>
          <a:prstGeom prst="rightArrow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passo_4"/>
          <p:cNvSpPr/>
          <p:nvPr/>
        </p:nvSpPr>
        <p:spPr>
          <a:xfrm>
            <a:off x="8156448" y="1417320"/>
            <a:ext cx="1737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3608" y="1554480"/>
            <a:ext cx="384048" cy="384048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9360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93608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Compara (tol. 1%)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293608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_answers_match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02952" y="2057400"/>
            <a:ext cx="146304" cy="228600"/>
          </a:xfrm>
          <a:prstGeom prst="rightArrow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3" name="passo_5"/>
          <p:cNvSpPr/>
          <p:nvPr/>
        </p:nvSpPr>
        <p:spPr>
          <a:xfrm>
            <a:off x="10058400" y="1417320"/>
            <a:ext cx="1737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95560" y="1554480"/>
            <a:ext cx="384048" cy="384048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1955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19556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Compara (escala %)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195560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answers_match_pct_scale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3063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Os passos 1 a 6 são idênticos nas duas versões. Só o texto do passo 1 (o prompt) mudou.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3611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100" kern="0" dirty="0">
                <a:solidFill>
                  <a:srgbClr val="1F8A70"/>
                </a:solidFill>
              </a:rPr>
              <a:t>O QUE O v4 ACRESCENTA (SÓ MEDIÇÃO, NÃO MUDA O ACERTO OFICIAL)</a:t>
            </a:r>
            <a:endParaRPr lang="en-US" sz="1200" dirty="0"/>
          </a:p>
        </p:txBody>
      </p:sp>
      <p:sp>
        <p:nvSpPr>
          <p:cNvPr id="40" name="add_0"/>
          <p:cNvSpPr/>
          <p:nvPr/>
        </p:nvSpPr>
        <p:spPr>
          <a:xfrm>
            <a:off x="54864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40873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is_pure_float(raw)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31520" y="4480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resposta inteira é só um número?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31520" y="5257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→ conformidade de formato</a:t>
            </a:r>
            <a:endParaRPr lang="en-US" sz="1300" dirty="0"/>
          </a:p>
        </p:txBody>
      </p:sp>
      <p:sp>
        <p:nvSpPr>
          <p:cNvPr id="44" name="add_1"/>
          <p:cNvSpPr/>
          <p:nvPr/>
        </p:nvSpPr>
        <p:spPr>
          <a:xfrm>
            <a:off x="429768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80560" y="40873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answers_match_exact(pred, gold)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480560" y="4480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Número extraído == gabarito, sem nenhuma tolerância?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4480560" y="5257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→ EM exato</a:t>
            </a:r>
            <a:endParaRPr lang="en-US" sz="1300" dirty="0"/>
          </a:p>
        </p:txBody>
      </p:sp>
      <p:sp>
        <p:nvSpPr>
          <p:cNvPr id="48" name="add_2"/>
          <p:cNvSpPr/>
          <p:nvPr/>
        </p:nvSpPr>
        <p:spPr>
          <a:xfrm>
            <a:off x="804672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29600" y="40873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raw_response sempre gravada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8229600" y="4480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Permite auditar cada resposta e reprocessar sem chamar o LLM.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8229600" y="5257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→ rastreabilidade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Por isso a comparação é justa: o EM oficial dos dois scripts é calculado pelas mesmas funções.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de tratamento da resposta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6400800"/>
                <a:gridCol w="82296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Função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 que faz com a resposta do LLM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v2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v4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_extract_content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Tira o texto do objeto do AutoGen (str, dict ou None)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extract_direct_answer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Procura o número da resposta no texto, com 6 regras em ordem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_parse_json_response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Regra 1: lê um JSON com campo "answer", se houver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_NUM_RE / _clean_num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Acha números no texto e remove $ , 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_is_year_like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Ignora números que parecem ano (1900 a 2099)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_to_float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Converte o texto em número, removendo $ , 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8A7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is_pure_float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Verifica se a resposta inteira já é um número (sem tratamento)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94A6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8A7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answers_match_exact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Compara número extraído e gabarito sem tolerância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94A6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obs_trat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1389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Leitura: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tratamento é o mesmo nos dois. O v4 não “trata melhor” a resposta. Ele só acrescenta duas medições que mostram quanto o resultado depende do formato.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número é extraído da resposta (extract_direct_answer)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AS 6 REGRAS, EM ORDEM (PARA NA PRIMEIRA QUE ENCONTRA)</a:t>
            </a:r>
            <a:endParaRPr lang="en-US" sz="1200" dirty="0"/>
          </a:p>
        </p:txBody>
      </p:sp>
      <p:sp>
        <p:nvSpPr>
          <p:cNvPr id="4" name="regra_0"/>
          <p:cNvSpPr/>
          <p:nvPr/>
        </p:nvSpPr>
        <p:spPr>
          <a:xfrm>
            <a:off x="548640" y="1691640"/>
            <a:ext cx="54864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5D8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9164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JSON com campo "answer"</a:t>
            </a:r>
            <a:endParaRPr lang="en-US" sz="1400" dirty="0"/>
          </a:p>
        </p:txBody>
      </p:sp>
      <p:sp>
        <p:nvSpPr>
          <p:cNvPr id="7" name="regra_1"/>
          <p:cNvSpPr/>
          <p:nvPr/>
        </p:nvSpPr>
        <p:spPr>
          <a:xfrm>
            <a:off x="548640" y="2295144"/>
            <a:ext cx="54864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95144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5D8A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9514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resposta inteira é um número</a:t>
            </a:r>
            <a:endParaRPr lang="en-US" sz="1400" dirty="0"/>
          </a:p>
        </p:txBody>
      </p:sp>
      <p:sp>
        <p:nvSpPr>
          <p:cNvPr id="10" name="regra_2"/>
          <p:cNvSpPr/>
          <p:nvPr/>
        </p:nvSpPr>
        <p:spPr>
          <a:xfrm>
            <a:off x="548640" y="2898648"/>
            <a:ext cx="54864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89864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5D8A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89864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Número logo após "answer is" / "Answer:"</a:t>
            </a:r>
            <a:endParaRPr lang="en-US" sz="1400" dirty="0"/>
          </a:p>
        </p:txBody>
      </p:sp>
      <p:sp>
        <p:nvSpPr>
          <p:cNvPr id="13" name="regra_3"/>
          <p:cNvSpPr/>
          <p:nvPr/>
        </p:nvSpPr>
        <p:spPr>
          <a:xfrm>
            <a:off x="548640" y="3502152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502152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5D8A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0215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Último número com %</a:t>
            </a:r>
            <a:endParaRPr lang="en-US" sz="1400" dirty="0"/>
          </a:p>
        </p:txBody>
      </p:sp>
      <p:sp>
        <p:nvSpPr>
          <p:cNvPr id="16" name="regra_4"/>
          <p:cNvSpPr/>
          <p:nvPr/>
        </p:nvSpPr>
        <p:spPr>
          <a:xfrm>
            <a:off x="548640" y="4105656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10565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5D8A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0565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Último número que não parece ano</a:t>
            </a:r>
            <a:endParaRPr lang="en-US" sz="1400" dirty="0"/>
          </a:p>
        </p:txBody>
      </p:sp>
      <p:sp>
        <p:nvSpPr>
          <p:cNvPr id="19" name="regra_5"/>
          <p:cNvSpPr/>
          <p:nvPr/>
        </p:nvSpPr>
        <p:spPr>
          <a:xfrm>
            <a:off x="548640" y="4709160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09160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5D8A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70916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Último número qualquer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349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As regras 4 e 5 decidem 83% das respostas: o número que “vale” é quase sempre o último do texto.</a:t>
            </a:r>
            <a:endParaRPr lang="en-US" sz="13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400800" y="128016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No v4 a regra 3 subiu de 3 para 16: o modelo passou a escrever “So, the answer is: …” ou “Answer: …” no fim.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Tolerância: os três critérios de acerto</a:t>
            </a:r>
            <a:endParaRPr lang="en-US" sz="3000" dirty="0"/>
          </a:p>
        </p:txBody>
      </p:sp>
      <p:sp>
        <p:nvSpPr>
          <p:cNvPr id="3" name="crit_0"/>
          <p:cNvSpPr/>
          <p:nvPr/>
        </p:nvSpPr>
        <p:spPr>
          <a:xfrm>
            <a:off x="548640" y="1325880"/>
            <a:ext cx="3520440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EM exato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float(extraído) == float(gabarito)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Nenhuma diferença é aceita.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A86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33%</a:t>
            </a:r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</a:t>
            </a:r>
            <a:pPr indent="0" marL="0">
              <a:buNone/>
            </a:pPr>
            <a:r>
              <a:rPr lang="en-US" sz="20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 43%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só no v4 (calculado também para o v2)</a:t>
            </a:r>
            <a:endParaRPr lang="en-US" sz="1100" dirty="0"/>
          </a:p>
        </p:txBody>
      </p:sp>
      <p:sp>
        <p:nvSpPr>
          <p:cNvPr id="9" name="crit_1"/>
          <p:cNvSpPr/>
          <p:nvPr/>
        </p:nvSpPr>
        <p:spPr>
          <a:xfrm>
            <a:off x="4297680" y="1325880"/>
            <a:ext cx="3520440" cy="2971800"/>
          </a:xfrm>
          <a:prstGeom prst="roundRect">
            <a:avLst>
              <a:gd name="adj" fmla="val 2462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EM com tolerância de 1%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874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|pred − gold| ≤ 0,01 × max(1, |gold|)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Aceita arredondamento. É o critério oficial, comparável com E1–E7.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A86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38%</a:t>
            </a:r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</a:t>
            </a:r>
            <a:pPr indent="0" marL="0">
              <a:buNone/>
            </a:pPr>
            <a:r>
              <a:rPr lang="en-US" sz="20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 48%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nos dois</a:t>
            </a:r>
            <a:endParaRPr lang="en-US" sz="1100" dirty="0"/>
          </a:p>
        </p:txBody>
      </p:sp>
      <p:sp>
        <p:nvSpPr>
          <p:cNvPr id="15" name="crit_2"/>
          <p:cNvSpPr/>
          <p:nvPr/>
        </p:nvSpPr>
        <p:spPr>
          <a:xfrm>
            <a:off x="8046720" y="1325880"/>
            <a:ext cx="3520440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EM com escala %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1874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tolerância 1% contra gold, gold × 100 ou gold ÷ 100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Só nas 24 perguntas de percentual. Aceita 2,9 para o gabarito 0,029.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A86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46%</a:t>
            </a:r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</a:t>
            </a:r>
            <a:pPr indent="0" marL="0">
              <a:buNone/>
            </a:pPr>
            <a:r>
              <a:rPr lang="en-US" sz="20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 58%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nos dois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EXEMPLOS REAIS DO v4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1188720"/>
                <a:gridCol w="822960"/>
                <a:gridCol w="914400"/>
                <a:gridCol w="100584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Linha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Gabarito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Extraído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Tol. 1%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Escala 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Leitura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43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1,19669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1,20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arredondamento legítimo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93.245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93.425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valor diferente aceito pela tolerância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0,02905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2,91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conta certa, resposta em 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LLM responde em cada versão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7A8699"/>
          </a:solidFill>
          <a:ln w="12700">
            <a:solidFill>
              <a:srgbClr val="7A86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v2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0" y="132588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0" y="13258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v4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258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Linha 22 · gabarito 12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13258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Linha 22 · gabarito 12</a:t>
            </a:r>
            <a:endParaRPr lang="en-US" sz="1300" dirty="0"/>
          </a:p>
        </p:txBody>
      </p:sp>
      <p:sp>
        <p:nvSpPr>
          <p:cNvPr id="9" name="resp_v2_22"/>
          <p:cNvSpPr/>
          <p:nvPr/>
        </p:nvSpPr>
        <p:spPr>
          <a:xfrm>
            <a:off x="548640" y="1737360"/>
            <a:ext cx="5394960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874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change in R&amp;D expenses from 2016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 was $12 million (2017: $201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million, 2016: $189 million).</a:t>
            </a:r>
            <a:endParaRPr lang="en-US" sz="1200" dirty="0"/>
          </a:p>
        </p:txBody>
      </p:sp>
      <p:sp>
        <p:nvSpPr>
          <p:cNvPr id="11" name="resp_v4_22"/>
          <p:cNvSpPr/>
          <p:nvPr/>
        </p:nvSpPr>
        <p:spPr>
          <a:xfrm>
            <a:off x="6217920" y="1737360"/>
            <a:ext cx="5394960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874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change in R&amp;D expenses is: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$201 million (2017) - $189 million (2016)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FE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$12 million. So, the answer is: 12.0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17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8553D"/>
                </a:solidFill>
              </a:rPr>
              <a:t>Extraído: 189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  (último número da frase)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017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8A70"/>
                </a:solidFill>
              </a:rPr>
              <a:t>Extraído: 12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  (o resultado vem no fim)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PADRÃO DAS 100 RESPOSTAS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097280"/>
                <a:gridCol w="109728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v2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v4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Efeito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Tokens de saída por resposta (média)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29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66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o modelo escreve mais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Respostas com a conta (“=”)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56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mostra o raciocínio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Respostas em várias linhas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64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explica antes de responder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Resposta é só um número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nenhuma das duas obedece ao formato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Respostas sem número extraível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sempre há algum número no texto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v4 acerta mais: o mecanismo</a:t>
            </a:r>
            <a:endParaRPr lang="en-US" sz="3000" dirty="0"/>
          </a:p>
        </p:txBody>
      </p:sp>
      <p:sp>
        <p:nvSpPr>
          <p:cNvPr id="3" name="mec_0"/>
          <p:cNvSpPr/>
          <p:nvPr/>
        </p:nvSpPr>
        <p:spPr>
          <a:xfrm>
            <a:off x="548640" y="1371600"/>
            <a:ext cx="5760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630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Prompt pede “floating point format”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288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O modelo entende que deve mostrar o número calculado.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19072" y="2286000"/>
            <a:ext cx="201168" cy="164592"/>
          </a:xfrm>
          <a:prstGeom prst="downArrow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" name="mec_1"/>
          <p:cNvSpPr/>
          <p:nvPr/>
        </p:nvSpPr>
        <p:spPr>
          <a:xfrm>
            <a:off x="548640" y="2450592"/>
            <a:ext cx="5760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79192"/>
            <a:ext cx="457200" cy="45720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542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 modelo escreve a conta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9077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“$998.7 − $978.4 = −$20.3 million”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19072" y="3364992"/>
            <a:ext cx="201168" cy="164592"/>
          </a:xfrm>
          <a:prstGeom prst="downArrow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" name="mec_2"/>
          <p:cNvSpPr/>
          <p:nvPr/>
        </p:nvSpPr>
        <p:spPr>
          <a:xfrm>
            <a:off x="548640" y="3529584"/>
            <a:ext cx="5760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758184"/>
            <a:ext cx="457200" cy="45720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6210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 resultado fica no fim do texto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98678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Nas contas, o resultado é o último número escrito.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19072" y="4443984"/>
            <a:ext cx="201168" cy="164592"/>
          </a:xfrm>
          <a:prstGeom prst="downArrow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" name="mec_3"/>
          <p:cNvSpPr/>
          <p:nvPr/>
        </p:nvSpPr>
        <p:spPr>
          <a:xfrm>
            <a:off x="548640" y="4608576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837176"/>
            <a:ext cx="457200" cy="45720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70001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 extrator lê o último número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06577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Regras 3 a 5 passam a pegar o resultado certo.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1371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DE ONDE VIERAM OS 18 ACERTOS NOVOS</a:t>
            </a:r>
            <a:endParaRPr lang="en-US" sz="1200" dirty="0"/>
          </a:p>
        </p:txBody>
      </p:sp>
      <p:sp>
        <p:nvSpPr>
          <p:cNvPr id="27" name="orig_extr"/>
          <p:cNvSpPr/>
          <p:nvPr/>
        </p:nvSpPr>
        <p:spPr>
          <a:xfrm>
            <a:off x="6675120" y="173736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18745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modelo já dava a resposta certa no v2, mas o extrator pegava outro número da frase</a:t>
            </a:r>
            <a:endParaRPr lang="en-US" sz="1400" dirty="0"/>
          </a:p>
        </p:txBody>
      </p:sp>
      <p:sp>
        <p:nvSpPr>
          <p:cNvPr id="30" name="orig_rac"/>
          <p:cNvSpPr/>
          <p:nvPr/>
        </p:nvSpPr>
        <p:spPr>
          <a:xfrm>
            <a:off x="6675120" y="3291840"/>
            <a:ext cx="4937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0" y="3383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2F5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34290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ganhos reais de raciocínio: somou valores, leu o ano certo, calculou o percentual pedido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48920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Conclusão: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cerca de 60% do ganho vem de a resposta ficar mais fácil de ler pela regra de extração; o resto vem de o modelo raciocinar em etapas ao mostrar a conta.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a pergunta: 18 ganhos contra 8 perdas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0" y="1325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TESTE DE McNEMAR (MESMAS 100 PERGUNTAS)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45920"/>
          <a:ext cx="5029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"/>
                <a:gridCol w="9144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Ganhou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Perdeu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p-valor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EM (tol. 1%)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0,076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EM escala 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8A70"/>
                          </a:solidFill>
                        </a:rPr>
                        <a:t>0,043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583680" y="288036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 que é: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McNemar compara só as perguntas em que as versões discordam. p &lt; 0,05 indica que a diferença dificilmente é acaso.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Leitura: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EM com escala % a melhora é significativa a 5%; no EM com tolerância fica no limite (p ≈ 0,08).</a:t>
            </a:r>
            <a:endParaRPr lang="en-US" sz="1400" dirty="0"/>
          </a:p>
        </p:txBody>
      </p:sp>
      <p:sp>
        <p:nvSpPr>
          <p:cNvPr id="7" name="rep"/>
          <p:cNvSpPr/>
          <p:nvPr/>
        </p:nvSpPr>
        <p:spPr>
          <a:xfrm>
            <a:off x="548640" y="4846320"/>
            <a:ext cx="11064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9560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Reprodutibilidade: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mesmo prompt foi rodado duas vezes (v3 e v4). EM com tolerância: 47% e 48%; as duas rodadas concordam em 93% das perguntas. O ganho não foi sorte de uma execução.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Exemplos: o v4 acerta onde o v2 errava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3566160"/>
                <a:gridCol w="32918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Linha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Gabarito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v2 (resposta → extraído)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v4 (resposta → extraído)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Por que melhorou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−20,3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“a decrease of $20.3 million, from $998.7 … to $978.4” → 978,4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“$998.7 − $978.4 = −$20.3 million” → −20,3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sinal na conta e resultado no fim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53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93,4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“$52.4 million and $41 million, respectively” → 41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“$52.4 + $41.0 = $93.4 million” → 93,4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passou a somar os valores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54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−9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“$18 − $10 = $8” (ano errado) → 8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“$9 − $18 = −$9” → −9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leu o ano certo (2018)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76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28,57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“The difference … is $2 million” → 7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“($2 / $7) × 100% = 28.571%” → 28,57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calculou o percentual pedido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29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56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“$56 million ($339 million − $283 million)” → 283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“… = $56 million  Answer: 56.0” → 56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resposta no fim, após a conta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Padrão: no v2 o número certo aparecia no meio da frase; no v4 ele é o último número, porque o modelo escreve a conta antes.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Exemplos: o v4 erra onde o v2 acertava (8 casos)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4754880"/>
                <a:gridCol w="118872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Linha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Gabarito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v4 escreveu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v4 extraído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Causa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41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337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“$437 − $100 = $337 … between 9/30/12 and 9/30/07”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553D"/>
                          </a:solidFill>
                        </a:rPr>
                        <a:t>extração: pegou o “07” da data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77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2,36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“…in 2007 was $2.36 billion” e depois calculou a variação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0,23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553D"/>
                          </a:solidFill>
                        </a:rPr>
                        <a:t>extração: respondeu e continuou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42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604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“…is $604,000”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604.000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unidade: valor em milhares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0,12176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“($287 / $2357) × 100% ≈ 12.13%”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12,13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escala: acerta no EM escala %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73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7.807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“$657 (operating) + $188 (capital) = $845”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845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raciocínio: somou só um ano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AS 8 PERDAS POR CAUSA</a:t>
            </a:r>
            <a:endParaRPr lang="en-US" sz="1200" dirty="0"/>
          </a:p>
        </p:txBody>
      </p:sp>
      <p:sp>
        <p:nvSpPr>
          <p:cNvPr id="5" name="perda_0"/>
          <p:cNvSpPr/>
          <p:nvPr/>
        </p:nvSpPr>
        <p:spPr>
          <a:xfrm>
            <a:off x="548640" y="4663440"/>
            <a:ext cx="35204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7091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4800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Extração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linhas 41, 77</a:t>
            </a:r>
            <a:endParaRPr lang="en-US" sz="1500" dirty="0"/>
          </a:p>
        </p:txBody>
      </p:sp>
      <p:sp>
        <p:nvSpPr>
          <p:cNvPr id="8" name="perda_1"/>
          <p:cNvSpPr/>
          <p:nvPr/>
        </p:nvSpPr>
        <p:spPr>
          <a:xfrm>
            <a:off x="4297680" y="4663440"/>
            <a:ext cx="35204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80560" y="47091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4800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Escala / unidade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linhas 12, 42</a:t>
            </a:r>
            <a:endParaRPr lang="en-US" sz="1500" dirty="0"/>
          </a:p>
        </p:txBody>
      </p:sp>
      <p:sp>
        <p:nvSpPr>
          <p:cNvPr id="11" name="perda_2"/>
          <p:cNvSpPr/>
          <p:nvPr/>
        </p:nvSpPr>
        <p:spPr>
          <a:xfrm>
            <a:off x="8046720" y="4663440"/>
            <a:ext cx="35204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47091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4800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Raciocínio / leitura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linhas 27, 60, 68, 73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que continuam nas duas versões</a:t>
            </a:r>
            <a:endParaRPr lang="en-US" sz="3000" dirty="0"/>
          </a:p>
        </p:txBody>
      </p:sp>
      <p:sp>
        <p:nvSpPr>
          <p:cNvPr id="3" name="persist_0"/>
          <p:cNvSpPr/>
          <p:nvPr/>
        </p:nvSpPr>
        <p:spPr>
          <a:xfrm>
            <a:off x="548640" y="1325880"/>
            <a:ext cx="53492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Escala de percentual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gabarito usa fração (0,0290); o modelo responde em % (2,91). Afeta 24 perguntas.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Linhas 3, 9, 16, 46, 57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8A70"/>
                </a:solidFill>
              </a:rPr>
              <a:t>Correção: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Prompt pode pedir “percentuais como fração”</a:t>
            </a:r>
            <a:endParaRPr lang="en-US" sz="1300" dirty="0"/>
          </a:p>
        </p:txBody>
      </p:sp>
      <p:sp>
        <p:nvSpPr>
          <p:cNvPr id="8" name="persist_1"/>
          <p:cNvSpPr/>
          <p:nvPr/>
        </p:nvSpPr>
        <p:spPr>
          <a:xfrm>
            <a:off x="6126480" y="1325880"/>
            <a:ext cx="53492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463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Gabarito inconsistente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8745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7 gabaritos contradizem o relatório (ex.: 2,1 anos quando o texto diz 2,2).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6060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Linhas 4, 5, 14, 55, 59, 61, 84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926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8A70"/>
                </a:solidFill>
              </a:rPr>
              <a:t>Correção: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Reportar o EM com e sem essas linhas</a:t>
            </a:r>
            <a:endParaRPr lang="en-US" sz="1300" dirty="0"/>
          </a:p>
        </p:txBody>
      </p:sp>
      <p:sp>
        <p:nvSpPr>
          <p:cNvPr id="13" name="persist_2"/>
          <p:cNvSpPr/>
          <p:nvPr/>
        </p:nvSpPr>
        <p:spPr>
          <a:xfrm>
            <a:off x="548640" y="3566160"/>
            <a:ext cx="53492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703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Pergunta de continuação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114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“what is that value less 1?”: o modelo não liga “that” ao turno anterior.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8463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Linhas 47, 48, 52, 93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166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8A70"/>
                </a:solidFill>
              </a:rPr>
              <a:t>Correção: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Explicar no prompt o papel do HISTORY</a:t>
            </a:r>
            <a:endParaRPr lang="en-US" sz="1300" dirty="0"/>
          </a:p>
        </p:txBody>
      </p:sp>
      <p:sp>
        <p:nvSpPr>
          <p:cNvPr id="18" name="persist_3"/>
          <p:cNvSpPr/>
          <p:nvPr/>
        </p:nvSpPr>
        <p:spPr>
          <a:xfrm>
            <a:off x="6126480" y="3566160"/>
            <a:ext cx="53492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3703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Sinal da variação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4114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Quedas escritas como número positivo (“$1.9 million” para −1,9).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48463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Linhas 36, 72, 79, 82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5166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8A70"/>
                </a:solidFill>
              </a:rPr>
              <a:t>Correção: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Pedir quedas como número negativo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Sem os 7 gabaritos inconsistentes, o EM com tolerância seria 40,9% (v2) e 51,6% (v4).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acerto: valores e como ler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325880"/>
                <a:gridCol w="466344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v2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v4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 que representa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Ideal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EM (tolerância 1%)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38%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0"/>
                          </a:solidFill>
                        </a:rPr>
                        <a:t>48%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% de perguntas com número extraído dentro de 1% do gabarito (critério oficial)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EM exato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33%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0"/>
                          </a:solidFill>
                        </a:rPr>
                        <a:t>43%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% de perguntas com número extraído idêntico ao gabarito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EM com escala 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46%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0"/>
                          </a:solidFill>
                        </a:rPr>
                        <a:t>58%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Como o EM, aceitando % × fração nas perguntas de percentual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IC 95% de Wilson do EM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29,1–47,8%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0"/>
                          </a:solidFill>
                        </a:rPr>
                        <a:t>38,5–57,7%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Faixa provável do EM real; com n = 100, ±9,5 pontos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faixa estreita e alta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Conformidade de formato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3%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</a:rPr>
                        <a:t>1%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% de respostas que eram só o número, sem nenhum texto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Unit accuracy (heurística)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43,3%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0"/>
                          </a:solidFill>
                        </a:rPr>
                        <a:t>54,4%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% com a mesma ordem de grandeza do gabarito (desvio &lt; 50%), em 90 perguntas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Respostas sem número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Respostas em que nenhum número foi encontrado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leitura_ic"/>
          <p:cNvSpPr/>
          <p:nvPr/>
        </p:nvSpPr>
        <p:spPr>
          <a:xfrm>
            <a:off x="548640" y="50292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1206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Atenção aos intervalos: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os ICs do v2 e do v4 se sobrepõem (38,5–47,8%). Com só 100 perguntas, uma diferença de 10 pontos ainda tem incerteza; por isso o teste pareado de McNemar é a melhor evidência.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erro numérico e de custo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1371600"/>
                <a:gridCol w="41148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v2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v4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 que representa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Ideal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MAE (erro absoluto médio)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39.681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0"/>
                          </a:solidFill>
                        </a:rPr>
                        <a:t>10.452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Média de |resposta − gabarito|, na unidade do dado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Erro relativo médio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3.236.955%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0"/>
                          </a:solidFill>
                        </a:rPr>
                        <a:t>14.420%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Média de |erro| ÷ |gabarito|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0%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MSE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1,06 × 10¹¹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0"/>
                          </a:solidFill>
                        </a:rPr>
                        <a:t>4,10 × 10⁹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Média do erro ao quadrado; pune muito os erros grandes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325.155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0"/>
                          </a:solidFill>
                        </a:rPr>
                        <a:t>64.036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Raiz do MSE, de volta na unidade do dado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Latência média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3,8 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</a:rPr>
                        <a:t>4,9 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Tempo de resposta por pergunta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menor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Tokens de saída (média)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29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</a:rPr>
                        <a:t>66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Tamanho da resposta do modelo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menor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Custo hipotético (GPT-4o mini, 100 perguntas)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US$ 0,019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</a:rPr>
                        <a:t>US$ 0,022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Quanto custaria em API paga (execução real é local)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</a:rPr>
                        <a:t>menor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leitura_erro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9834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Como ler: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MAE, MSE e erro relativo são distorcidos por poucos erros enormes (ex.: responder 4000 para o gabarito 0,37). Servem para comparar versões, não para dizer “quanto” o modelo erra. A métrica principal continua sendo o 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v4 tem que o v2 não 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108960" y="1280160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7A8699"/>
          </a:solidFill>
          <a:ln w="12700">
            <a:solidFill>
              <a:srgbClr val="7A86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0" y="12801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v2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040880" y="1280160"/>
            <a:ext cx="4572000" cy="329184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2801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v4</a:t>
            </a:r>
            <a:endParaRPr lang="en-US" sz="1200" dirty="0"/>
          </a:p>
        </p:txBody>
      </p:sp>
      <p:sp>
        <p:nvSpPr>
          <p:cNvPr id="7" name="lado_0"/>
          <p:cNvSpPr/>
          <p:nvPr/>
        </p:nvSpPr>
        <p:spPr>
          <a:xfrm>
            <a:off x="548640" y="1737360"/>
            <a:ext cx="1106424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Prompt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17373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“Return only the final answer.”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73736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“…in floating point format.”: o modelo mostra a conta</a:t>
            </a:r>
            <a:endParaRPr lang="en-US" sz="1300" dirty="0"/>
          </a:p>
        </p:txBody>
      </p:sp>
      <p:sp>
        <p:nvSpPr>
          <p:cNvPr id="11" name="lado_1"/>
          <p:cNvSpPr/>
          <p:nvPr/>
        </p:nvSpPr>
        <p:spPr>
          <a:xfrm>
            <a:off x="548640" y="2340864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34086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Medição de formato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34086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não mede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34086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is_pure_float → conformidade de formato</a:t>
            </a:r>
            <a:endParaRPr lang="en-US" sz="1300" dirty="0"/>
          </a:p>
        </p:txBody>
      </p:sp>
      <p:sp>
        <p:nvSpPr>
          <p:cNvPr id="15" name="lado_2"/>
          <p:cNvSpPr/>
          <p:nvPr/>
        </p:nvSpPr>
        <p:spPr>
          <a:xfrm>
            <a:off x="548640" y="2944368"/>
            <a:ext cx="1106424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94436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Critério sem tolerância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294436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não tem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9443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answers_match_exact → EM exato</a:t>
            </a:r>
            <a:endParaRPr lang="en-US" sz="1300" dirty="0"/>
          </a:p>
        </p:txBody>
      </p:sp>
      <p:sp>
        <p:nvSpPr>
          <p:cNvPr id="19" name="lado_3"/>
          <p:cNvSpPr/>
          <p:nvPr/>
        </p:nvSpPr>
        <p:spPr>
          <a:xfrm>
            <a:off x="548640" y="3547872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54787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Critérios reportados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354787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EM (tol. 1%) e EM escala 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5478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EM exato, EM (tol. 1%), EM escala % e IC de cada um</a:t>
            </a:r>
            <a:endParaRPr lang="en-US" sz="1300" dirty="0"/>
          </a:p>
        </p:txBody>
      </p:sp>
      <p:sp>
        <p:nvSpPr>
          <p:cNvPr id="23" name="lado_4"/>
          <p:cNvSpPr/>
          <p:nvPr/>
        </p:nvSpPr>
        <p:spPr>
          <a:xfrm>
            <a:off x="548640" y="4151376"/>
            <a:ext cx="1106424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15137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Rastreabilidade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415137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resposta bruta gravada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41513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resposta bruta + flag de formato + acerto exato por pergunta</a:t>
            </a:r>
            <a:endParaRPr lang="en-US" sz="1300" dirty="0"/>
          </a:p>
        </p:txBody>
      </p:sp>
      <p:sp>
        <p:nvSpPr>
          <p:cNvPr id="27" name="lado_5"/>
          <p:cNvSpPr/>
          <p:nvPr/>
        </p:nvSpPr>
        <p:spPr>
          <a:xfrm>
            <a:off x="548640" y="4754880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75488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Resultado (EM tol. 1%)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200400" y="475488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38%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47548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48%</a:t>
            </a:r>
            <a:endParaRPr lang="en-US" sz="1300" dirty="0"/>
          </a:p>
        </p:txBody>
      </p:sp>
      <p:sp>
        <p:nvSpPr>
          <p:cNvPr id="31" name="lado_6"/>
          <p:cNvSpPr/>
          <p:nvPr/>
        </p:nvSpPr>
        <p:spPr>
          <a:xfrm>
            <a:off x="548640" y="5358384"/>
            <a:ext cx="1106424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535838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Custo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200400" y="53583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29 tokens, 3,8 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53583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8553D"/>
                </a:solidFill>
              </a:rPr>
              <a:t>66 tokens, 4,9 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Única desvantagem do v4: a resposta dobra de tamanho, o que custa cerca de 1 s a mais por pergunta.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próximos passos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100" kern="0" dirty="0">
                <a:solidFill>
                  <a:srgbClr val="C8553D"/>
                </a:solidFill>
              </a:rPr>
              <a:t>LIMITAÇÕES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Amostra de 100 perguntas: IC de ±9,5 pontos.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Uma rodada por versão (v3 e v4 confirmam o prompt, mas não há média de várias rodadas).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Extração por regra fixa: ainda erra em datas (linha 41) e em respostas que continuam após o resultado (linha 77).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7 gabaritos do dataset são inconsistentes.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100" kern="0" dirty="0">
                <a:solidFill>
                  <a:srgbClr val="1F8A70"/>
                </a:solidFill>
              </a:rPr>
              <a:t>PRÓXIMOS PASSOS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6459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Pedir uma linha final fixa: “ANSWER: &lt;número&gt;”, e extrair só dela.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Informar convenções no prompt: percentual como fração e quedas como negativo.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Aplicar o mesmo prompt de E1 a E7, para manter a comparação justa.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Rodar 3 vezes e reportar média e desvio.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Reportar o EM com e sem os 7 gabaritos inconsistentes.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18488"/>
            <a:ext cx="457200" cy="45720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508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Uma linha de prompt mudou o resultado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20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9D3E0"/>
                </a:solidFill>
              </a:rPr>
              <a:t>EM 38% → 48% e EM escala % 46% → 58%, com o mesmo modelo, a mesma entrada e as mesmas funções de avaliação.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61488"/>
            <a:ext cx="457200" cy="45720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51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O ganho vem de como o modelo escreve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063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9D3E0"/>
                </a:solidFill>
              </a:rPr>
              <a:t>Ao mostrar a conta, o resultado fica no fim do texto: 11 dos 18 ganhos são respostas que já estavam certas no v2, mas eram mal extraídas.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904488"/>
            <a:ext cx="457200" cy="45720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794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Há também ganho de raciocínio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206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9D3E0"/>
                </a:solidFill>
              </a:rPr>
              <a:t>7 perguntas passaram a ser resolvidas: somas, ano correto, percentual calculado.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47488"/>
            <a:ext cx="457200" cy="45720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937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O formato pedido não foi obedecido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349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9D3E0"/>
                </a:solidFill>
              </a:rPr>
              <a:t>Só 1% das respostas foi um número puro. Medir o acerto exige extrair o número do texto.</a:t>
            </a:r>
            <a:endParaRPr lang="en-US" sz="1500" dirty="0"/>
          </a:p>
        </p:txBody>
      </p:sp>
      <p:sp>
        <p:nvSpPr>
          <p:cNvPr id="19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731520" y="347472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0 v2 x v4">
  <a:themeElements>
    <a:clrScheme name="E0 v2 x v4">
      <a:dk1>
        <a:srgbClr val="16202E"/>
      </a:dk1>
      <a:lt1>
        <a:srgbClr val="FFFFFF"/>
      </a:lt1>
      <a:dk2>
        <a:srgbClr val="3B4A60"/>
      </a:dk2>
      <a:lt2>
        <a:srgbClr val="EEF1F5"/>
      </a:lt2>
      <a:accent1>
        <a:srgbClr val="1F8A70"/>
      </a:accent1>
      <a:accent2>
        <a:srgbClr val="C8553D"/>
      </a:accent2>
      <a:accent3>
        <a:srgbClr val="7A8699"/>
      </a:accent3>
      <a:accent4>
        <a:srgbClr val="2F5D8A"/>
      </a:accent4>
      <a:accent5>
        <a:srgbClr val="8A94A6"/>
      </a:accent5>
      <a:accent6>
        <a:srgbClr val="E3F2EC"/>
      </a:accent6>
      <a:hlink>
        <a:srgbClr val="2F5D8A"/>
      </a:hlink>
      <a:folHlink>
        <a:srgbClr val="6C4E9B"/>
      </a:folHlink>
    </a:clrScheme>
    <a:fontScheme name="E0 v2 x v4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E0: v2 x v4 — por que o v4 acerta mais</dc:title>
  <dc:subject>PptxGenJS Presentation</dc:subject>
  <dc:creator>Experimento E0</dc:creator>
  <cp:lastModifiedBy>Experimento E0</cp:lastModifiedBy>
  <cp:revision>1</cp:revision>
  <dcterms:created xsi:type="dcterms:W3CDTF">2026-10-22T02:52:19Z</dcterms:created>
  <dcterms:modified xsi:type="dcterms:W3CDTF">2026-10-22T02:52:19Z</dcterms:modified>
</cp:coreProperties>
</file>